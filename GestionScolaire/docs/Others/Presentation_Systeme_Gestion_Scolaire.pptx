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c5f9fd7d78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3c5f9fd7d78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3c5f9fd7d78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5f9fd7d78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5f9fd7d78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c5f9fd7d78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5f9fd7d78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5f9fd7d78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c5f9fd7d78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5f9fd7d78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5f9fd7d78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c5f9fd7d78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5f9fd7d78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5f9fd7d78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c5f9fd7d78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5f9fd7d78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5f9fd7d78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c5f9fd7d78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5f9fd7d78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5f9fd7d78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c5f9fd7d78_0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title="Screenshot from 2026-02-06 04-38-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-47625"/>
            <a:ext cx="9144000" cy="519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Screenshot from 2026-02-06 05-07-4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150" y="3063475"/>
            <a:ext cx="7681224" cy="22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 title="Screenshot from 2026-02-06 05-10-5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007924" cy="120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" title="Screenshot from 2026-02-06 05-27-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3" cy="4726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Diagramme de Classes - Conception UML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457200" y="868680"/>
            <a:ext cx="274320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Organisation du Système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5" title="DC2_Gestion_Académiqu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5725" y="1455155"/>
            <a:ext cx="3464134" cy="3512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5" title="DC1_Hiérarchie_des Utilisateur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200" y="1852480"/>
            <a:ext cx="4650925" cy="222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6" title="Screenshot from 2026-02-06 04-28-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3727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6" title="Screenshot from 2026-02-06 05-02-4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750" y="822544"/>
            <a:ext cx="9144000" cy="4100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Diagramme de Classes - Implémentation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7"/>
          <p:cNvSpPr/>
          <p:nvPr/>
        </p:nvSpPr>
        <p:spPr>
          <a:xfrm>
            <a:off x="457200" y="868680"/>
            <a:ext cx="320040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7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Architecture Logicielle - 4 Packages Principaux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" name="Google Shape;50;p7" title="DC_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78280"/>
            <a:ext cx="8839204" cy="348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Scénario Implémenté : Gestion des Notes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8"/>
          <p:cNvSpPr/>
          <p:nvPr/>
        </p:nvSpPr>
        <p:spPr>
          <a:xfrm>
            <a:off x="457200" y="868680"/>
            <a:ext cx="320040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8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8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Démontrer le flux complet de gestion des notes en temps réel avec les 3 acteurs principaux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8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Acteurs Impliqués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457200" y="2286000"/>
            <a:ext cx="2651760" cy="11887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548640" y="23774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👨‍🏫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8"/>
          <p:cNvSpPr/>
          <p:nvPr/>
        </p:nvSpPr>
        <p:spPr>
          <a:xfrm>
            <a:off x="548640" y="27889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Enseignant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8"/>
          <p:cNvSpPr/>
          <p:nvPr/>
        </p:nvSpPr>
        <p:spPr>
          <a:xfrm>
            <a:off x="548640" y="31089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Saisit les notes (CC, TP, Examen)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3383280" y="2286000"/>
            <a:ext cx="2651760" cy="11887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8"/>
          <p:cNvSpPr/>
          <p:nvPr/>
        </p:nvSpPr>
        <p:spPr>
          <a:xfrm>
            <a:off x="3474720" y="23774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👨‍💼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3474720" y="27889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Administrateur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3474720" y="31089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Valide ou rejette les notes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6309360" y="2286000"/>
            <a:ext cx="2651760" cy="11887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8"/>
          <p:cNvSpPr/>
          <p:nvPr/>
        </p:nvSpPr>
        <p:spPr>
          <a:xfrm>
            <a:off x="6400800" y="23774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👨‍🎓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6400800" y="27889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Étudiant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6400800" y="31089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Consulte ses notes en temps réel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Cas d'Utilisation Implémentés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8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CU-02 : Saisir les notes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CU-03 : Valider les notes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CU-06 : Consulter notes en temps réel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Flux du Scénario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9"/>
          <p:cNvSpPr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9"/>
          <p:cNvCxnSpPr/>
          <p:nvPr/>
        </p:nvCxnSpPr>
        <p:spPr>
          <a:xfrm>
            <a:off x="640080" y="1554480"/>
            <a:ext cx="0" cy="228600"/>
          </a:xfrm>
          <a:prstGeom prst="straightConnector1">
            <a:avLst/>
          </a:prstGeom>
          <a:noFill/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9"/>
          <p:cNvSpPr/>
          <p:nvPr/>
        </p:nvSpPr>
        <p:spPr>
          <a:xfrm>
            <a:off x="1005840" y="1188720"/>
            <a:ext cx="768096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9"/>
          <p:cNvSpPr/>
          <p:nvPr/>
        </p:nvSpPr>
        <p:spPr>
          <a:xfrm>
            <a:off x="1097280" y="1234440"/>
            <a:ext cx="7498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Connexion Enseignant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1097280" y="1444752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LoginFrame → EnseignantFrame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457200" y="178308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9"/>
          <p:cNvSpPr/>
          <p:nvPr/>
        </p:nvSpPr>
        <p:spPr>
          <a:xfrm>
            <a:off x="457200" y="17830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9"/>
          <p:cNvCxnSpPr/>
          <p:nvPr/>
        </p:nvCxnSpPr>
        <p:spPr>
          <a:xfrm>
            <a:off x="640080" y="2148840"/>
            <a:ext cx="0" cy="228600"/>
          </a:xfrm>
          <a:prstGeom prst="straightConnector1">
            <a:avLst/>
          </a:prstGeom>
          <a:noFill/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9"/>
          <p:cNvSpPr/>
          <p:nvPr/>
        </p:nvSpPr>
        <p:spPr>
          <a:xfrm>
            <a:off x="1005840" y="1783080"/>
            <a:ext cx="768096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9"/>
          <p:cNvSpPr/>
          <p:nvPr/>
        </p:nvSpPr>
        <p:spPr>
          <a:xfrm>
            <a:off x="1097280" y="1828800"/>
            <a:ext cx="7498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Saisie des Notes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1097280" y="2039112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SaisieNotesDialog : CC, TP, Examen → Calcul automatique moyenne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9"/>
          <p:cNvCxnSpPr/>
          <p:nvPr/>
        </p:nvCxnSpPr>
        <p:spPr>
          <a:xfrm>
            <a:off x="640080" y="2743200"/>
            <a:ext cx="0" cy="228600"/>
          </a:xfrm>
          <a:prstGeom prst="straightConnector1">
            <a:avLst/>
          </a:prstGeom>
          <a:noFill/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9"/>
          <p:cNvSpPr/>
          <p:nvPr/>
        </p:nvSpPr>
        <p:spPr>
          <a:xfrm>
            <a:off x="1005840" y="2377440"/>
            <a:ext cx="768096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/>
          <p:nvPr/>
        </p:nvSpPr>
        <p:spPr>
          <a:xfrm>
            <a:off x="1097280" y="2423160"/>
            <a:ext cx="7498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Sauvegarde Progressive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1097280" y="2633472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Brouillon enregistré, notes visibles en temps réel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457200" y="29718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9"/>
          <p:cNvSpPr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9"/>
          <p:cNvCxnSpPr/>
          <p:nvPr/>
        </p:nvCxnSpPr>
        <p:spPr>
          <a:xfrm>
            <a:off x="640080" y="3337560"/>
            <a:ext cx="0" cy="228600"/>
          </a:xfrm>
          <a:prstGeom prst="straightConnector1">
            <a:avLst/>
          </a:prstGeom>
          <a:noFill/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9"/>
          <p:cNvSpPr/>
          <p:nvPr/>
        </p:nvSpPr>
        <p:spPr>
          <a:xfrm>
            <a:off x="1005840" y="2971800"/>
            <a:ext cx="768096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9"/>
          <p:cNvSpPr/>
          <p:nvPr/>
        </p:nvSpPr>
        <p:spPr>
          <a:xfrm>
            <a:off x="1097280" y="3017520"/>
            <a:ext cx="7498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Soumission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1097280" y="3227832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Vérification complétude → Statut 'Soumise'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"/>
          <p:cNvSpPr/>
          <p:nvPr/>
        </p:nvSpPr>
        <p:spPr>
          <a:xfrm>
            <a:off x="457200" y="35661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9"/>
          <p:cNvCxnSpPr/>
          <p:nvPr/>
        </p:nvCxnSpPr>
        <p:spPr>
          <a:xfrm>
            <a:off x="640080" y="3931920"/>
            <a:ext cx="0" cy="228600"/>
          </a:xfrm>
          <a:prstGeom prst="straightConnector1">
            <a:avLst/>
          </a:prstGeom>
          <a:noFill/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9"/>
          <p:cNvSpPr/>
          <p:nvPr/>
        </p:nvSpPr>
        <p:spPr>
          <a:xfrm>
            <a:off x="1005840" y="3566160"/>
            <a:ext cx="768096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9"/>
          <p:cNvSpPr/>
          <p:nvPr/>
        </p:nvSpPr>
        <p:spPr>
          <a:xfrm>
            <a:off x="1097280" y="3611880"/>
            <a:ext cx="7498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Validation Admin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1097280" y="3822192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ValidationNotesDialog : Valider ou Rejeter avec motif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457200" y="4160520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"/>
          <p:cNvSpPr/>
          <p:nvPr/>
        </p:nvSpPr>
        <p:spPr>
          <a:xfrm>
            <a:off x="457200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1005840" y="4160520"/>
            <a:ext cx="768096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/>
          <p:cNvSpPr/>
          <p:nvPr/>
        </p:nvSpPr>
        <p:spPr>
          <a:xfrm>
            <a:off x="1097280" y="4206240"/>
            <a:ext cx="7498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Consultation Étudiant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1097280" y="4416552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ConsultationNotesDialog : Accès immédiat aux notes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0" title="Screenshot from 2026-02-06 04-53-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815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1" title="Screenshot from 2026-02-06 04-53-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815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2" title="Screenshot from 2026-02-06 04-53-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815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3" title="Screenshot from 2026-02-06 04-54-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815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4" title="Screenshot from 2026-02-06 04-54-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815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5" title="Screenshot from 2026-02-06 04-54-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815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Merci de votre attention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Questions 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📧 Code source disponible sur GitHub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