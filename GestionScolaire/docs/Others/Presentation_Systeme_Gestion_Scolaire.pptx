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</p:sldIdLst>
  <p:sldSz cy="5143500" cx="9144000"/>
  <p:notesSz cx="51435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18" Type="http://schemas.openxmlformats.org/officeDocument/2006/relationships/slide" Target="slides/slide14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" name="Google Shape;21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" name="Google Shape;22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" name="Google Shape;27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" name="Google Shape;28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g3c5f9fd7d78_0_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g3c5f9fd7d78_0_1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g3c5f9fd7d78_0_1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4" name="Google Shape;44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" name="Google Shape;45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6" name="Google Shape;5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" name="Google Shape;57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" name="Google Shape;8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3c5f9fd7d78_0_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" name="Google Shape;123;g3c5f9fd7d78_0_1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g3c5f9fd7d78_0_1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c5f9fd7d78_0_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3c5f9fd7d78_0_2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g3c5f9fd7d78_0_23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c5f9fd7d78_0_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c5f9fd7d78_0_3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g3c5f9fd7d78_0_33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c5f9fd7d78_0_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3c5f9fd7d78_0_3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g3c5f9fd7d78_0_37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c5f9fd7d78_0_4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c5f9fd7d78_0_4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g3c5f9fd7d78_0_4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c5f9fd7d78_0_4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c5f9fd7d78_0_4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g3c5f9fd7d78_0_47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9" name="Google Shape;159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" name="Google Shape;160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2.png"/><Relationship Id="rId4" Type="http://schemas.openxmlformats.org/officeDocument/2006/relationships/image" Target="../media/image3.png"/><Relationship Id="rId5" Type="http://schemas.openxmlformats.org/officeDocument/2006/relationships/image" Target="../media/image8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6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6.png"/><Relationship Id="rId5" Type="http://schemas.openxmlformats.org/officeDocument/2006/relationships/image" Target="../media/image4.png"/><Relationship Id="rId6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7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761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16;p3" title="Screenshot from 2026-02-06 04-38-3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2" y="-47625"/>
            <a:ext cx="9144000" cy="5191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17;p3" title="Screenshot from 2026-02-06 05-07-47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87150" y="3063475"/>
            <a:ext cx="7681224" cy="227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Google Shape;18;p3" title="Screenshot from 2026-02-06 05-10-56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0" y="0"/>
            <a:ext cx="9007924" cy="1208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9FA"/>
        </a:solidFill>
      </p:bgPr>
    </p:bg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Google Shape;24;p4" title="Screenshot from 2026-02-06 05-27-4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8839203" cy="472687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9FA"/>
        </a:solidFill>
      </p:bgPr>
    </p:bg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5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Diagramme de Classes - Conception UML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5"/>
          <p:cNvSpPr/>
          <p:nvPr/>
        </p:nvSpPr>
        <p:spPr>
          <a:xfrm>
            <a:off x="457200" y="868680"/>
            <a:ext cx="2743200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" name="Google Shape;32;p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Organisation du Système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3" name="Google Shape;33;p5" title="DC2_Gestion_Académiqu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55725" y="1455155"/>
            <a:ext cx="3464134" cy="3512819"/>
          </a:xfrm>
          <a:prstGeom prst="rect">
            <a:avLst/>
          </a:prstGeom>
          <a:noFill/>
          <a:ln>
            <a:noFill/>
          </a:ln>
        </p:spPr>
      </p:pic>
      <p:pic>
        <p:nvPicPr>
          <p:cNvPr id="34" name="Google Shape;34;p5" title="DC1_Hiérarchie_des Utilisateurs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5200" y="1852480"/>
            <a:ext cx="4650925" cy="2222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Google Shape;40;p6" title="Screenshot from 2026-02-06 04-28-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8833727" cy="4838699"/>
          </a:xfrm>
          <a:prstGeom prst="rect">
            <a:avLst/>
          </a:prstGeom>
          <a:noFill/>
          <a:ln>
            <a:noFill/>
          </a:ln>
        </p:spPr>
      </p:pic>
      <p:pic>
        <p:nvPicPr>
          <p:cNvPr id="41" name="Google Shape;41;p6" title="Screenshot from 2026-02-06 05-02-47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2750" y="822544"/>
            <a:ext cx="9144000" cy="410051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9FA"/>
        </a:solid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Diagramme de Classes - Implémentation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7"/>
          <p:cNvSpPr/>
          <p:nvPr/>
        </p:nvSpPr>
        <p:spPr>
          <a:xfrm>
            <a:off x="457200" y="868680"/>
            <a:ext cx="3200400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" name="Google Shape;49;p7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Architecture Logicielle - 4 Packages Principaux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0" name="Google Shape;50;p7" title="DCf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73575" y="1463030"/>
            <a:ext cx="7108951" cy="3512822"/>
          </a:xfrm>
          <a:prstGeom prst="rect">
            <a:avLst/>
          </a:prstGeom>
          <a:noFill/>
          <a:ln>
            <a:noFill/>
          </a:ln>
        </p:spPr>
      </p:pic>
      <p:pic>
        <p:nvPicPr>
          <p:cNvPr id="51" name="Google Shape;51;p7" title="Screenshot from 2026-02-06 05-17-44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360850"/>
            <a:ext cx="789200" cy="3717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52" name="Google Shape;52;p7" title="Screenshot from 2026-02-06 05-18-01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952975" y="1051550"/>
            <a:ext cx="2626875" cy="625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" name="Google Shape;53;p7" title="Screenshot from 2026-02-06 05-18-18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667400" y="4218243"/>
            <a:ext cx="1315125" cy="625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9FA"/>
        </a:solid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Scénario Implémenté : Gestion des Notes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8"/>
          <p:cNvSpPr/>
          <p:nvPr/>
        </p:nvSpPr>
        <p:spPr>
          <a:xfrm>
            <a:off x="457200" y="868680"/>
            <a:ext cx="3200400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" name="Google Shape;61;p8"/>
          <p:cNvSpPr/>
          <p:nvPr/>
        </p:nvSpPr>
        <p:spPr>
          <a:xfrm>
            <a:off x="457200" y="1097280"/>
            <a:ext cx="8229600" cy="64008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76200" rotWithShape="0" algn="bl" dir="8100000" dist="25400">
              <a:srgbClr val="000000">
                <a:alpha val="1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" name="Google Shape;62;p8"/>
          <p:cNvSpPr/>
          <p:nvPr/>
        </p:nvSpPr>
        <p:spPr>
          <a:xfrm>
            <a:off x="640080" y="1188720"/>
            <a:ext cx="7863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0" i="1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Démontrer le flux complet de gestion des notes en temps réel avec les 3 acteurs principaux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8"/>
          <p:cNvSpPr/>
          <p:nvPr/>
        </p:nvSpPr>
        <p:spPr>
          <a:xfrm>
            <a:off x="457200" y="1920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Acteurs Impliqués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8"/>
          <p:cNvSpPr/>
          <p:nvPr/>
        </p:nvSpPr>
        <p:spPr>
          <a:xfrm>
            <a:off x="457200" y="2286000"/>
            <a:ext cx="2651760" cy="1188720"/>
          </a:xfrm>
          <a:prstGeom prst="rect">
            <a:avLst/>
          </a:prstGeom>
          <a:solidFill>
            <a:srgbClr val="FFFFFF"/>
          </a:solidFill>
          <a:ln cap="flat" cmpd="sng" w="254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8100000" dist="25400">
              <a:srgbClr val="000000">
                <a:alpha val="1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" name="Google Shape;65;p8"/>
          <p:cNvSpPr/>
          <p:nvPr/>
        </p:nvSpPr>
        <p:spPr>
          <a:xfrm>
            <a:off x="548640" y="2377440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Calibri"/>
              <a:buNone/>
            </a:pPr>
            <a:r>
              <a:rPr b="0" i="0" lang="en-US" sz="3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👨‍🏫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8"/>
          <p:cNvSpPr/>
          <p:nvPr/>
        </p:nvSpPr>
        <p:spPr>
          <a:xfrm>
            <a:off x="548640" y="2788920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Enseignant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8"/>
          <p:cNvSpPr/>
          <p:nvPr/>
        </p:nvSpPr>
        <p:spPr>
          <a:xfrm>
            <a:off x="548640" y="3108960"/>
            <a:ext cx="24688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Saisit les notes (CC, TP, Examen)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8"/>
          <p:cNvSpPr/>
          <p:nvPr/>
        </p:nvSpPr>
        <p:spPr>
          <a:xfrm>
            <a:off x="3383280" y="2286000"/>
            <a:ext cx="2651760" cy="1188720"/>
          </a:xfrm>
          <a:prstGeom prst="rect">
            <a:avLst/>
          </a:prstGeom>
          <a:solidFill>
            <a:srgbClr val="FFFFFF"/>
          </a:solidFill>
          <a:ln cap="flat" cmpd="sng" w="25400">
            <a:solidFill>
              <a:srgbClr val="7C3AED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8100000" dist="25400">
              <a:srgbClr val="000000">
                <a:alpha val="1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" name="Google Shape;69;p8"/>
          <p:cNvSpPr/>
          <p:nvPr/>
        </p:nvSpPr>
        <p:spPr>
          <a:xfrm>
            <a:off x="3474720" y="2377440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Calibri"/>
              <a:buNone/>
            </a:pPr>
            <a:r>
              <a:rPr b="0" i="0" lang="en-US" sz="3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👨‍💼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8"/>
          <p:cNvSpPr/>
          <p:nvPr/>
        </p:nvSpPr>
        <p:spPr>
          <a:xfrm>
            <a:off x="3474720" y="2788920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C3AED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7C3AED"/>
                </a:solidFill>
                <a:latin typeface="Calibri"/>
                <a:ea typeface="Calibri"/>
                <a:cs typeface="Calibri"/>
                <a:sym typeface="Calibri"/>
              </a:rPr>
              <a:t>Administrateur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8"/>
          <p:cNvSpPr/>
          <p:nvPr/>
        </p:nvSpPr>
        <p:spPr>
          <a:xfrm>
            <a:off x="3474720" y="3108960"/>
            <a:ext cx="24688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Valide ou rejette les notes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8"/>
          <p:cNvSpPr/>
          <p:nvPr/>
        </p:nvSpPr>
        <p:spPr>
          <a:xfrm>
            <a:off x="6309360" y="2286000"/>
            <a:ext cx="2651760" cy="1188720"/>
          </a:xfrm>
          <a:prstGeom prst="rect">
            <a:avLst/>
          </a:prstGeom>
          <a:solidFill>
            <a:srgbClr val="FFFFFF"/>
          </a:solidFill>
          <a:ln cap="flat" cmpd="sng" w="25400">
            <a:solidFill>
              <a:srgbClr val="DC2626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8100000" dist="25400">
              <a:srgbClr val="000000">
                <a:alpha val="1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" name="Google Shape;73;p8"/>
          <p:cNvSpPr/>
          <p:nvPr/>
        </p:nvSpPr>
        <p:spPr>
          <a:xfrm>
            <a:off x="6400800" y="2377440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Calibri"/>
              <a:buNone/>
            </a:pPr>
            <a:r>
              <a:rPr b="0" i="0" lang="en-US" sz="3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👨‍🎓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8"/>
          <p:cNvSpPr/>
          <p:nvPr/>
        </p:nvSpPr>
        <p:spPr>
          <a:xfrm>
            <a:off x="6400800" y="2788920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C2626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DC2626"/>
                </a:solidFill>
                <a:latin typeface="Calibri"/>
                <a:ea typeface="Calibri"/>
                <a:cs typeface="Calibri"/>
                <a:sym typeface="Calibri"/>
              </a:rPr>
              <a:t>Étudiant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8"/>
          <p:cNvSpPr/>
          <p:nvPr/>
        </p:nvSpPr>
        <p:spPr>
          <a:xfrm>
            <a:off x="6400800" y="3108960"/>
            <a:ext cx="24688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Consulte ses notes en temps réel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8"/>
          <p:cNvSpPr/>
          <p:nvPr/>
        </p:nvSpPr>
        <p:spPr>
          <a:xfrm>
            <a:off x="457200" y="36576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Cas d'Utilisation Implémentés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8"/>
          <p:cNvSpPr/>
          <p:nvPr/>
        </p:nvSpPr>
        <p:spPr>
          <a:xfrm>
            <a:off x="457200" y="4023360"/>
            <a:ext cx="822960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6200" rotWithShape="0" algn="bl" dir="8100000" dist="25400">
              <a:srgbClr val="000000">
                <a:alpha val="1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" name="Google Shape;78;p8"/>
          <p:cNvSpPr/>
          <p:nvPr/>
        </p:nvSpPr>
        <p:spPr>
          <a:xfrm>
            <a:off x="640080" y="4114800"/>
            <a:ext cx="78638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CU-02 : Saisir les notes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CU-03 : Valider les notes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CU-06 : Consulter notes en temps réel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9FA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9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Flux du Scénario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9"/>
          <p:cNvSpPr/>
          <p:nvPr/>
        </p:nvSpPr>
        <p:spPr>
          <a:xfrm>
            <a:off x="457200" y="868680"/>
            <a:ext cx="1828800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9"/>
          <p:cNvSpPr/>
          <p:nvPr/>
        </p:nvSpPr>
        <p:spPr>
          <a:xfrm>
            <a:off x="457200" y="1188720"/>
            <a:ext cx="365760" cy="3657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9"/>
          <p:cNvSpPr/>
          <p:nvPr/>
        </p:nvSpPr>
        <p:spPr>
          <a:xfrm>
            <a:off x="457200" y="1188720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88" name="Google Shape;88;p9"/>
          <p:cNvCxnSpPr/>
          <p:nvPr/>
        </p:nvCxnSpPr>
        <p:spPr>
          <a:xfrm>
            <a:off x="640080" y="1554480"/>
            <a:ext cx="0" cy="228600"/>
          </a:xfrm>
          <a:prstGeom prst="straightConnector1">
            <a:avLst/>
          </a:prstGeom>
          <a:noFill/>
          <a:ln cap="flat" cmpd="sng" w="254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9" name="Google Shape;89;p9"/>
          <p:cNvSpPr/>
          <p:nvPr/>
        </p:nvSpPr>
        <p:spPr>
          <a:xfrm>
            <a:off x="1005840" y="1188720"/>
            <a:ext cx="7680960" cy="5029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9"/>
          <p:cNvSpPr/>
          <p:nvPr/>
        </p:nvSpPr>
        <p:spPr>
          <a:xfrm>
            <a:off x="1097280" y="1234440"/>
            <a:ext cx="7498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Connexion Enseignant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9"/>
          <p:cNvSpPr/>
          <p:nvPr/>
        </p:nvSpPr>
        <p:spPr>
          <a:xfrm>
            <a:off x="1097280" y="1444752"/>
            <a:ext cx="74980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LoginFrame → EnseignantFrame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9"/>
          <p:cNvSpPr/>
          <p:nvPr/>
        </p:nvSpPr>
        <p:spPr>
          <a:xfrm>
            <a:off x="457200" y="1783080"/>
            <a:ext cx="365760" cy="3657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9"/>
          <p:cNvSpPr/>
          <p:nvPr/>
        </p:nvSpPr>
        <p:spPr>
          <a:xfrm>
            <a:off x="457200" y="1783080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4" name="Google Shape;94;p9"/>
          <p:cNvCxnSpPr/>
          <p:nvPr/>
        </p:nvCxnSpPr>
        <p:spPr>
          <a:xfrm>
            <a:off x="640080" y="2148840"/>
            <a:ext cx="0" cy="228600"/>
          </a:xfrm>
          <a:prstGeom prst="straightConnector1">
            <a:avLst/>
          </a:prstGeom>
          <a:noFill/>
          <a:ln cap="flat" cmpd="sng" w="254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5" name="Google Shape;95;p9"/>
          <p:cNvSpPr/>
          <p:nvPr/>
        </p:nvSpPr>
        <p:spPr>
          <a:xfrm>
            <a:off x="1005840" y="1783080"/>
            <a:ext cx="7680960" cy="5029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9"/>
          <p:cNvSpPr/>
          <p:nvPr/>
        </p:nvSpPr>
        <p:spPr>
          <a:xfrm>
            <a:off x="1097280" y="1828800"/>
            <a:ext cx="7498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Saisie des Notes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9"/>
          <p:cNvSpPr/>
          <p:nvPr/>
        </p:nvSpPr>
        <p:spPr>
          <a:xfrm>
            <a:off x="1097280" y="2039112"/>
            <a:ext cx="74980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SaisieNotesDialog : CC, TP, Examen → Calcul automatique moyenne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9"/>
          <p:cNvSpPr/>
          <p:nvPr/>
        </p:nvSpPr>
        <p:spPr>
          <a:xfrm>
            <a:off x="457200" y="2377440"/>
            <a:ext cx="365760" cy="3657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9"/>
          <p:cNvSpPr/>
          <p:nvPr/>
        </p:nvSpPr>
        <p:spPr>
          <a:xfrm>
            <a:off x="457200" y="2377440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0" name="Google Shape;100;p9"/>
          <p:cNvCxnSpPr/>
          <p:nvPr/>
        </p:nvCxnSpPr>
        <p:spPr>
          <a:xfrm>
            <a:off x="640080" y="2743200"/>
            <a:ext cx="0" cy="228600"/>
          </a:xfrm>
          <a:prstGeom prst="straightConnector1">
            <a:avLst/>
          </a:prstGeom>
          <a:noFill/>
          <a:ln cap="flat" cmpd="sng" w="254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1" name="Google Shape;101;p9"/>
          <p:cNvSpPr/>
          <p:nvPr/>
        </p:nvSpPr>
        <p:spPr>
          <a:xfrm>
            <a:off x="1005840" y="2377440"/>
            <a:ext cx="7680960" cy="5029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9"/>
          <p:cNvSpPr/>
          <p:nvPr/>
        </p:nvSpPr>
        <p:spPr>
          <a:xfrm>
            <a:off x="1097280" y="2423160"/>
            <a:ext cx="7498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Sauvegarde Progressive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9"/>
          <p:cNvSpPr/>
          <p:nvPr/>
        </p:nvSpPr>
        <p:spPr>
          <a:xfrm>
            <a:off x="1097280" y="2633472"/>
            <a:ext cx="74980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Brouillon enregistré, notes visibles en temps réel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9"/>
          <p:cNvSpPr/>
          <p:nvPr/>
        </p:nvSpPr>
        <p:spPr>
          <a:xfrm>
            <a:off x="457200" y="2971800"/>
            <a:ext cx="365760" cy="3657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9"/>
          <p:cNvSpPr/>
          <p:nvPr/>
        </p:nvSpPr>
        <p:spPr>
          <a:xfrm>
            <a:off x="457200" y="2971800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6" name="Google Shape;106;p9"/>
          <p:cNvCxnSpPr/>
          <p:nvPr/>
        </p:nvCxnSpPr>
        <p:spPr>
          <a:xfrm>
            <a:off x="640080" y="3337560"/>
            <a:ext cx="0" cy="228600"/>
          </a:xfrm>
          <a:prstGeom prst="straightConnector1">
            <a:avLst/>
          </a:prstGeom>
          <a:noFill/>
          <a:ln cap="flat" cmpd="sng" w="254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7" name="Google Shape;107;p9"/>
          <p:cNvSpPr/>
          <p:nvPr/>
        </p:nvSpPr>
        <p:spPr>
          <a:xfrm>
            <a:off x="1005840" y="2971800"/>
            <a:ext cx="7680960" cy="5029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9"/>
          <p:cNvSpPr/>
          <p:nvPr/>
        </p:nvSpPr>
        <p:spPr>
          <a:xfrm>
            <a:off x="1097280" y="3017520"/>
            <a:ext cx="7498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Soumission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9"/>
          <p:cNvSpPr/>
          <p:nvPr/>
        </p:nvSpPr>
        <p:spPr>
          <a:xfrm>
            <a:off x="1097280" y="3227832"/>
            <a:ext cx="74980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Vérification complétude → Statut 'Soumise'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9"/>
          <p:cNvSpPr/>
          <p:nvPr/>
        </p:nvSpPr>
        <p:spPr>
          <a:xfrm>
            <a:off x="457200" y="3566160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9"/>
          <p:cNvSpPr/>
          <p:nvPr/>
        </p:nvSpPr>
        <p:spPr>
          <a:xfrm>
            <a:off x="457200" y="3566160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2" name="Google Shape;112;p9"/>
          <p:cNvCxnSpPr/>
          <p:nvPr/>
        </p:nvCxnSpPr>
        <p:spPr>
          <a:xfrm>
            <a:off x="640080" y="3931920"/>
            <a:ext cx="0" cy="228600"/>
          </a:xfrm>
          <a:prstGeom prst="straightConnector1">
            <a:avLst/>
          </a:prstGeom>
          <a:noFill/>
          <a:ln cap="flat" cmpd="sng" w="25400">
            <a:solidFill>
              <a:srgbClr val="7C3AE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3" name="Google Shape;113;p9"/>
          <p:cNvSpPr/>
          <p:nvPr/>
        </p:nvSpPr>
        <p:spPr>
          <a:xfrm>
            <a:off x="1005840" y="3566160"/>
            <a:ext cx="7680960" cy="5029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7C3AE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9"/>
          <p:cNvSpPr/>
          <p:nvPr/>
        </p:nvSpPr>
        <p:spPr>
          <a:xfrm>
            <a:off x="1097280" y="3611880"/>
            <a:ext cx="7498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C3AED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7C3AED"/>
                </a:solidFill>
                <a:latin typeface="Calibri"/>
                <a:ea typeface="Calibri"/>
                <a:cs typeface="Calibri"/>
                <a:sym typeface="Calibri"/>
              </a:rPr>
              <a:t>Validation Admin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9"/>
          <p:cNvSpPr/>
          <p:nvPr/>
        </p:nvSpPr>
        <p:spPr>
          <a:xfrm>
            <a:off x="1097280" y="3822192"/>
            <a:ext cx="74980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ValidationNotesDialog : Valider ou Rejeter avec motif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9"/>
          <p:cNvSpPr/>
          <p:nvPr/>
        </p:nvSpPr>
        <p:spPr>
          <a:xfrm>
            <a:off x="457200" y="4160520"/>
            <a:ext cx="365760" cy="365760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9"/>
          <p:cNvSpPr/>
          <p:nvPr/>
        </p:nvSpPr>
        <p:spPr>
          <a:xfrm>
            <a:off x="457200" y="4160520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9"/>
          <p:cNvSpPr/>
          <p:nvPr/>
        </p:nvSpPr>
        <p:spPr>
          <a:xfrm>
            <a:off x="1005840" y="4160520"/>
            <a:ext cx="7680960" cy="5029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C262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9"/>
          <p:cNvSpPr/>
          <p:nvPr/>
        </p:nvSpPr>
        <p:spPr>
          <a:xfrm>
            <a:off x="1097280" y="4206240"/>
            <a:ext cx="7498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C2626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Calibri"/>
                <a:ea typeface="Calibri"/>
                <a:cs typeface="Calibri"/>
                <a:sym typeface="Calibri"/>
              </a:rPr>
              <a:t>Consultation Étudiant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9"/>
          <p:cNvSpPr/>
          <p:nvPr/>
        </p:nvSpPr>
        <p:spPr>
          <a:xfrm>
            <a:off x="1097280" y="4416552"/>
            <a:ext cx="74980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ConsultationNotesDialog : Accès immédiat aux notes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Google Shape;126;p10" title="Screenshot from 2026-02-06 04-53-4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8839200" cy="48155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11" title="Screenshot from 2026-02-06 04-53-5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8839200" cy="48155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8" name="Google Shape;138;p12" title="Screenshot from 2026-02-06 04-53-57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8839200" cy="48155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4" name="Google Shape;144;p13" title="Screenshot from 2026-02-06 04-54-0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8839200" cy="48155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14" title="Screenshot from 2026-02-06 04-54-0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8839200" cy="48155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15" title="Screenshot from 2026-02-06 04-54-0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8839200" cy="48155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761"/>
        </a:solid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6"/>
          <p:cNvSpPr/>
          <p:nvPr/>
        </p:nvSpPr>
        <p:spPr>
          <a:xfrm>
            <a:off x="457200" y="1828800"/>
            <a:ext cx="82296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Calibri"/>
              <a:buNone/>
            </a:pPr>
            <a:r>
              <a:rPr b="1" i="0" lang="en-US" sz="4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Merci de votre attention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6"/>
          <p:cNvSpPr/>
          <p:nvPr/>
        </p:nvSpPr>
        <p:spPr>
          <a:xfrm>
            <a:off x="457200" y="2743200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2800"/>
              <a:buFont typeface="Calibri"/>
              <a:buNone/>
            </a:pPr>
            <a:r>
              <a:rPr b="0" i="1" lang="en-US" sz="28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Questions ?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16"/>
          <p:cNvSpPr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📧 Code source disponible sur GitHub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